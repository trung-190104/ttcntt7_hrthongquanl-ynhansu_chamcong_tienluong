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4623025" cx="288036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055">
          <p15:clr>
            <a:srgbClr val="A4A3A4"/>
          </p15:clr>
        </p15:guide>
        <p15:guide id="2" pos="9072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irwpRI1wzxE0aJi3hNL7cTNlru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055" orient="horz"/>
        <p:guide pos="9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160270" y="7302894"/>
            <a:ext cx="24483060" cy="155354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sz="18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600450" y="23437428"/>
            <a:ext cx="21602700" cy="10773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sz="7560"/>
            </a:lvl1pPr>
            <a:lvl2pPr lvl="1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None/>
              <a:defRPr sz="6300"/>
            </a:lvl2pPr>
            <a:lvl3pPr lvl="2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None/>
              <a:defRPr sz="5670"/>
            </a:lvl3pPr>
            <a:lvl4pPr lvl="3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4pPr>
            <a:lvl5pPr lvl="4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5pPr>
            <a:lvl6pPr lvl="5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6pPr>
            <a:lvl7pPr lvl="6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7pPr>
            <a:lvl8pPr lvl="7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8pPr>
            <a:lvl9pPr lvl="8" algn="ctr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980248" y="11878818"/>
            <a:ext cx="24843105" cy="28312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965247" y="11124784"/>
            <a:ext cx="24843105" cy="185619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sz="189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965247" y="29862329"/>
            <a:ext cx="24843105" cy="9761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sz="756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6300"/>
              <a:buNone/>
              <a:defRPr sz="63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670"/>
              <a:buNone/>
              <a:defRPr sz="567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rgbClr val="888888"/>
              </a:buClr>
              <a:buSzPts val="5040"/>
              <a:buNone/>
              <a:defRPr sz="504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980248" y="11878818"/>
            <a:ext cx="12241530" cy="28312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14581823" y="11878818"/>
            <a:ext cx="12241530" cy="28312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983999" y="2375773"/>
            <a:ext cx="24843105" cy="862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984002" y="10938845"/>
            <a:ext cx="12185271" cy="53609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b="1" sz="7560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None/>
              <a:defRPr b="1" sz="6300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None/>
              <a:defRPr b="1" sz="5670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984002" y="16299804"/>
            <a:ext cx="12185271" cy="2397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4581824" y="10938845"/>
            <a:ext cx="12245282" cy="53609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7560"/>
              <a:buNone/>
              <a:defRPr b="1" sz="7560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None/>
              <a:defRPr b="1" sz="6300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None/>
              <a:defRPr b="1" sz="5670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b="1" sz="504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4581824" y="16299804"/>
            <a:ext cx="12245282" cy="2397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983999" y="2974869"/>
            <a:ext cx="9289911" cy="104120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Calibri"/>
              <a:buNone/>
              <a:defRPr sz="100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2245281" y="6424901"/>
            <a:ext cx="14581823" cy="317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6868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0080"/>
              <a:buChar char="•"/>
              <a:defRPr sz="10080"/>
            </a:lvl1pPr>
            <a:lvl2pPr indent="-78867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8820"/>
              <a:buChar char="•"/>
              <a:defRPr sz="8820"/>
            </a:lvl2pPr>
            <a:lvl3pPr indent="-70866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7560"/>
              <a:buChar char="•"/>
              <a:defRPr sz="7560"/>
            </a:lvl3pPr>
            <a:lvl4pPr indent="-62865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Char char="•"/>
              <a:defRPr sz="6300"/>
            </a:lvl4pPr>
            <a:lvl5pPr indent="-62865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Char char="•"/>
              <a:defRPr sz="6300"/>
            </a:lvl5pPr>
            <a:lvl6pPr indent="-62865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Char char="•"/>
              <a:defRPr sz="6300"/>
            </a:lvl6pPr>
            <a:lvl7pPr indent="-62865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Char char="•"/>
              <a:defRPr sz="6300"/>
            </a:lvl7pPr>
            <a:lvl8pPr indent="-62865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Char char="•"/>
              <a:defRPr sz="6300"/>
            </a:lvl8pPr>
            <a:lvl9pPr indent="-62865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Char char="•"/>
              <a:defRPr sz="63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983999" y="13386912"/>
            <a:ext cx="9289911" cy="24800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4410"/>
              <a:buNone/>
              <a:defRPr sz="4410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983999" y="2974869"/>
            <a:ext cx="9289911" cy="104120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80"/>
              <a:buFont typeface="Calibri"/>
              <a:buNone/>
              <a:defRPr sz="100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2245281" y="6424901"/>
            <a:ext cx="14581823" cy="3171127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983999" y="13386912"/>
            <a:ext cx="9289911" cy="24800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  <a:defRPr sz="5040"/>
            </a:lvl1pPr>
            <a:lvl2pPr indent="-2286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4410"/>
              <a:buNone/>
              <a:defRPr sz="4410"/>
            </a:lvl2pPr>
            <a:lvl3pPr indent="-2286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sz="3780"/>
            </a:lvl3pPr>
            <a:lvl4pPr indent="-2286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4pPr>
            <a:lvl5pPr indent="-2286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5pPr>
            <a:lvl6pPr indent="-2286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6pPr>
            <a:lvl7pPr indent="-2286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7pPr>
            <a:lvl8pPr indent="-2286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8pPr>
            <a:lvl9pPr indent="-2286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3150"/>
              <a:buNone/>
              <a:defRPr sz="31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45346" y="13613720"/>
            <a:ext cx="28312908" cy="24843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809985" y="18178357"/>
            <a:ext cx="37815962" cy="621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791590" y="12147603"/>
            <a:ext cx="37815962" cy="18272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860"/>
              <a:buFont typeface="Calibri"/>
              <a:buNone/>
              <a:defRPr b="0" i="0" sz="138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980248" y="11878818"/>
            <a:ext cx="24843105" cy="28312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788670" lvl="0" marL="457200" marR="0" rtl="0" algn="l">
              <a:lnSpc>
                <a:spcPct val="90000"/>
              </a:lnSpc>
              <a:spcBef>
                <a:spcPts val="3150"/>
              </a:spcBef>
              <a:spcAft>
                <a:spcPts val="0"/>
              </a:spcAft>
              <a:buClr>
                <a:schemeClr val="dk1"/>
              </a:buClr>
              <a:buSzPts val="8820"/>
              <a:buFont typeface="Arial"/>
              <a:buChar char="•"/>
              <a:defRPr b="0" i="0" sz="88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08660" lvl="1" marL="9144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7560"/>
              <a:buFont typeface="Arial"/>
              <a:buChar char="•"/>
              <a:defRPr b="0" i="0" sz="75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28650" lvl="2" marL="13716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6300"/>
              <a:buFont typeface="Arial"/>
              <a:buChar char="•"/>
              <a:defRPr b="0" i="0" sz="6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88645" lvl="3" marL="18288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Font typeface="Arial"/>
              <a:buChar char="•"/>
              <a:defRPr b="0" i="0" sz="56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88645" lvl="4" marL="22860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Font typeface="Arial"/>
              <a:buChar char="•"/>
              <a:defRPr b="0" i="0" sz="56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88645" lvl="5" marL="27432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Font typeface="Arial"/>
              <a:buChar char="•"/>
              <a:defRPr b="0" i="0" sz="56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88645" lvl="6" marL="32004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Font typeface="Arial"/>
              <a:buChar char="•"/>
              <a:defRPr b="0" i="0" sz="56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88645" lvl="7" marL="36576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Font typeface="Arial"/>
              <a:buChar char="•"/>
              <a:defRPr b="0" i="0" sz="56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88645" lvl="8" marL="4114800" marR="0" rtl="0" algn="l">
              <a:lnSpc>
                <a:spcPct val="90000"/>
              </a:lnSpc>
              <a:spcBef>
                <a:spcPts val="1575"/>
              </a:spcBef>
              <a:spcAft>
                <a:spcPts val="0"/>
              </a:spcAft>
              <a:buClr>
                <a:schemeClr val="dk1"/>
              </a:buClr>
              <a:buSzPts val="5670"/>
              <a:buFont typeface="Arial"/>
              <a:buChar char="•"/>
              <a:defRPr b="0" i="0" sz="567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78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8.png"/><Relationship Id="rId15" Type="http://schemas.openxmlformats.org/officeDocument/2006/relationships/image" Target="../media/image9.png"/><Relationship Id="rId1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23508" y="13070316"/>
            <a:ext cx="14798561" cy="7141907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Hệ thống được xây dựng để quản lý nhân sự, chấm công và tính lương của một tổ chức. Các chức năng của hệ thống bao gồm: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Quản lý nhân sự, hồ sơ làm việc, tài sản công ty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Quản lý đăng ký đợt làm, đăng kí làm theo ngày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Chấm công theo ngày, ca làm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Quản lý đơn từ, phê duyệt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Tính lương theo tháng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Có phụ cấp, thuế, bảo hiểm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+  Thống kê, xuất file báo cáo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423509" y="11900546"/>
            <a:ext cx="14783722" cy="1308427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GIỚI THIỆU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7352" y="21504690"/>
            <a:ext cx="18377428" cy="19694426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9252516" y="36119066"/>
            <a:ext cx="9043732" cy="508005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549710" y="20453908"/>
            <a:ext cx="18335070" cy="1078624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GIAO DIỆN ỨNG DỤNG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842" y="-193989"/>
            <a:ext cx="28844442" cy="70535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0097479" y="280631"/>
            <a:ext cx="805214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ĐẠI NAM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KHOA CÔNG NGHỆ THÔNG TIN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5491012" y="13070316"/>
            <a:ext cx="12889080" cy="7134134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9252516" y="20424591"/>
            <a:ext cx="9001374" cy="1078625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CÔNG NGHỆ SỬ DỤNG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9238785" y="21552222"/>
            <a:ext cx="9043053" cy="7555162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0228777" y="3198833"/>
            <a:ext cx="27789000" cy="210750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Hệ thống sẽ mở rộng: chấm công thông minh (AI, máy chấm công), tính lương nâng cao (KPI, dự án), tích hợp ngân hàng/BHXH điện tử, dashboard phân tích và cổng self-service nhân viên.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507352" y="41415551"/>
            <a:ext cx="27808379" cy="1010747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HƯỚNG PHÁT TRIỂN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16136" l="10090" r="11250" t="691"/>
          <a:stretch/>
        </p:blipFill>
        <p:spPr>
          <a:xfrm>
            <a:off x="549711" y="21552221"/>
            <a:ext cx="18303146" cy="970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37136" l="5211" r="10545" t="6465"/>
          <a:stretch/>
        </p:blipFill>
        <p:spPr>
          <a:xfrm>
            <a:off x="549710" y="29247335"/>
            <a:ext cx="18303146" cy="433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6">
            <a:alphaModFix/>
          </a:blip>
          <a:srcRect b="12502" l="9903" r="16473" t="18991"/>
          <a:stretch/>
        </p:blipFill>
        <p:spPr>
          <a:xfrm>
            <a:off x="549709" y="33191668"/>
            <a:ext cx="18144162" cy="509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7">
            <a:alphaModFix/>
          </a:blip>
          <a:srcRect b="34939" l="8686" r="0" t="18424"/>
          <a:stretch/>
        </p:blipFill>
        <p:spPr>
          <a:xfrm>
            <a:off x="618753" y="38335398"/>
            <a:ext cx="18154625" cy="2486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8">
            <a:alphaModFix/>
          </a:blip>
          <a:srcRect b="0" l="0" r="4720" t="0"/>
          <a:stretch/>
        </p:blipFill>
        <p:spPr>
          <a:xfrm>
            <a:off x="19542293" y="36457772"/>
            <a:ext cx="8555476" cy="4483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2520757" y="6212740"/>
            <a:ext cx="23977904" cy="3052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50" lIns="20275" spcFirstLastPara="1" rIns="20275" wrap="square" tIns="101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b="1" i="0" lang="vi-VN" sz="5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ERP: HỆ THỐNG QUẢN LÝ NHÂN SỰ, CHẤM </a:t>
            </a:r>
            <a:r>
              <a:rPr b="1" i="0" lang="vi-VN" sz="55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b="1" i="0" lang="vi-VN" sz="50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VÀ TÍNH LƯƠNG</a:t>
            </a:r>
            <a:endParaRPr b="1" i="0" sz="50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06811" y="8842901"/>
            <a:ext cx="6349136" cy="2896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4881615" y="7612324"/>
            <a:ext cx="19256188" cy="1968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 Văn Huy, Phạm Ngọc Minh, Nguyễn Thành Trung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9245190" y="29367935"/>
            <a:ext cx="9048998" cy="1078625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9245190" y="30465994"/>
            <a:ext cx="9043053" cy="4355779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233F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3925" lIns="173925" spcFirstLastPara="1" rIns="173925" wrap="square" tIns="173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9238785" y="35108319"/>
            <a:ext cx="9076946" cy="1010747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CÔNG NGHỆ SỬ DỤNG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24560342" y="31169857"/>
            <a:ext cx="2702755" cy="3157014"/>
            <a:chOff x="5729861" y="6934721"/>
            <a:chExt cx="754203" cy="859501"/>
          </a:xfrm>
        </p:grpSpPr>
        <p:pic>
          <p:nvPicPr>
            <p:cNvPr id="108" name="Google Shape;108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9" name="Google Shape;109;p1"/>
            <p:cNvGrpSpPr/>
            <p:nvPr/>
          </p:nvGrpSpPr>
          <p:grpSpPr>
            <a:xfrm>
              <a:off x="5771688" y="7629649"/>
              <a:ext cx="712376" cy="164573"/>
              <a:chOff x="6071533" y="2197843"/>
              <a:chExt cx="712376" cy="166522"/>
            </a:xfrm>
          </p:grpSpPr>
          <p:sp>
            <p:nvSpPr>
              <p:cNvPr id="110" name="Google Shape;110;p1"/>
              <p:cNvSpPr txBox="1"/>
              <p:nvPr/>
            </p:nvSpPr>
            <p:spPr>
              <a:xfrm>
                <a:off x="6134700" y="2200965"/>
                <a:ext cx="649209" cy="1242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Github</a:t>
                </a:r>
                <a:endParaRPr b="1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Github Logo - Free social media icons" id="111" name="Google Shape;111;p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6071533" y="2197843"/>
                <a:ext cx="166522" cy="1665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2" name="Google Shape;112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523608" y="31062951"/>
            <a:ext cx="2555381" cy="24898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"/>
          <p:cNvGrpSpPr/>
          <p:nvPr/>
        </p:nvGrpSpPr>
        <p:grpSpPr>
          <a:xfrm>
            <a:off x="25498132" y="8150919"/>
            <a:ext cx="2565886" cy="3302428"/>
            <a:chOff x="5729861" y="6934721"/>
            <a:chExt cx="725093" cy="876541"/>
          </a:xfrm>
        </p:grpSpPr>
        <p:pic>
          <p:nvPicPr>
            <p:cNvPr id="114" name="Google Shape;114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5" name="Google Shape;115;p1"/>
            <p:cNvGrpSpPr/>
            <p:nvPr/>
          </p:nvGrpSpPr>
          <p:grpSpPr>
            <a:xfrm>
              <a:off x="5771688" y="7623373"/>
              <a:ext cx="683266" cy="187889"/>
              <a:chOff x="6071533" y="2191502"/>
              <a:chExt cx="683266" cy="190115"/>
            </a:xfrm>
          </p:grpSpPr>
          <p:sp>
            <p:nvSpPr>
              <p:cNvPr id="116" name="Google Shape;116;p1"/>
              <p:cNvSpPr txBox="1"/>
              <p:nvPr/>
            </p:nvSpPr>
            <p:spPr>
              <a:xfrm>
                <a:off x="6105590" y="2191502"/>
                <a:ext cx="649209" cy="1901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Github</a:t>
                </a:r>
                <a:b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Platform</a:t>
                </a:r>
                <a:endParaRPr/>
              </a:p>
            </p:txBody>
          </p:sp>
          <p:pic>
            <p:nvPicPr>
              <p:cNvPr descr="Github Logo - Free social media icons" id="117" name="Google Shape;117;p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6071533" y="2197843"/>
                <a:ext cx="166522" cy="1665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Ảnh có chứa mẫu, hình vuông, điểm ảnh, thiết kế&#10;&#10;Nội dung do AI tạo ra có thể không chính xác." id="118" name="Google Shape;118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408378" y="8005788"/>
            <a:ext cx="2565886" cy="256588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"/>
          <p:cNvSpPr/>
          <p:nvPr/>
        </p:nvSpPr>
        <p:spPr>
          <a:xfrm>
            <a:off x="15491012" y="11886761"/>
            <a:ext cx="12889080" cy="1341517"/>
          </a:xfrm>
          <a:prstGeom prst="rect">
            <a:avLst/>
          </a:prstGeom>
          <a:solidFill>
            <a:srgbClr val="233F99"/>
          </a:solidFill>
          <a:ln cap="flat" cmpd="sng" w="57150">
            <a:solidFill>
              <a:srgbClr val="233F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3475" lIns="86950" spcFirstLastPara="1" rIns="86950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KIẾN TRÚC HỆ THỐNG 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304020" y="22078954"/>
            <a:ext cx="8793748" cy="6775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"/>
          <p:cNvGrpSpPr/>
          <p:nvPr/>
        </p:nvGrpSpPr>
        <p:grpSpPr>
          <a:xfrm>
            <a:off x="20228776" y="31138037"/>
            <a:ext cx="2745125" cy="3236673"/>
            <a:chOff x="5729861" y="6934721"/>
            <a:chExt cx="725093" cy="905961"/>
          </a:xfrm>
        </p:grpSpPr>
        <p:pic>
          <p:nvPicPr>
            <p:cNvPr id="122" name="Google Shape;122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" name="Google Shape;123;p1"/>
            <p:cNvGrpSpPr/>
            <p:nvPr/>
          </p:nvGrpSpPr>
          <p:grpSpPr>
            <a:xfrm>
              <a:off x="5771688" y="7623373"/>
              <a:ext cx="683266" cy="217309"/>
              <a:chOff x="6071533" y="2191497"/>
              <a:chExt cx="683266" cy="219883"/>
            </a:xfrm>
          </p:grpSpPr>
          <p:sp>
            <p:nvSpPr>
              <p:cNvPr id="124" name="Google Shape;124;p1"/>
              <p:cNvSpPr txBox="1"/>
              <p:nvPr/>
            </p:nvSpPr>
            <p:spPr>
              <a:xfrm>
                <a:off x="6105590" y="2191497"/>
                <a:ext cx="649209" cy="2198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Github</a:t>
                </a:r>
                <a:b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vi-VN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FIT-DNU</a:t>
                </a:r>
                <a:endParaRPr/>
              </a:p>
            </p:txBody>
          </p:sp>
          <p:pic>
            <p:nvPicPr>
              <p:cNvPr descr="Github Logo - Free social media icons" id="125" name="Google Shape;125;p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6071533" y="2197843"/>
                <a:ext cx="166522" cy="1665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26" name="Google Shape;126;p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644942" y="13577327"/>
            <a:ext cx="12651306" cy="623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2023-07-02T07:57:15Z</dcterms:created>
  <dc:creator>Thái Khánh Nguyễn</dc:creator>
</cp:coreProperties>
</file>